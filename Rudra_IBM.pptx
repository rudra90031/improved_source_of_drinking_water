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66" r:id="rId10"/>
    <p:sldId id="2146847061" r:id="rId11"/>
    <p:sldId id="2146847056" r:id="rId12"/>
    <p:sldId id="2146847057" r:id="rId13"/>
    <p:sldId id="2146847060" r:id="rId14"/>
    <p:sldId id="2146847058" r:id="rId15"/>
    <p:sldId id="2146847059" r:id="rId16"/>
    <p:sldId id="267" r:id="rId17"/>
    <p:sldId id="268" r:id="rId18"/>
    <p:sldId id="2146847055" r:id="rId19"/>
    <p:sldId id="269"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90" d="100"/>
          <a:sy n="90" d="100"/>
        </p:scale>
        <p:origin x="14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a:cs typeface="Arial"/>
              </a:rPr>
              <a:t>IMPROVING DRINKING WATER ACCESS IN INDIA</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IBM HACKATHON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u="sng" dirty="0">
                <a:solidFill>
                  <a:schemeClr val="accent1">
                    <a:lumMod val="75000"/>
                  </a:schemeClr>
                </a:solidFill>
                <a:latin typeface="Arial" pitchFamily="34" charset="0"/>
                <a:cs typeface="Arial" pitchFamily="34" charset="0"/>
              </a:rPr>
              <a:t>Presented By : Rudra Pratap Singh</a:t>
            </a:r>
          </a:p>
          <a:p>
            <a:pPr marL="342900" indent="-342900">
              <a:buFont typeface="Wingdings" panose="05000000000000000000" pitchFamily="2" charset="2"/>
              <a:buChar char="Ø"/>
            </a:pPr>
            <a:endParaRPr lang="en-US" sz="2000" b="1" u="sng" dirty="0">
              <a:solidFill>
                <a:schemeClr val="accent1">
                  <a:lumMod val="75000"/>
                </a:schemeClr>
              </a:solidFill>
              <a:latin typeface="Arial" pitchFamily="34" charset="0"/>
              <a:cs typeface="Arial" pitchFamily="34" charset="0"/>
            </a:endParaRP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Student Name:</a:t>
            </a:r>
            <a:r>
              <a:rPr lang="en-US" sz="2000" b="1" dirty="0">
                <a:solidFill>
                  <a:schemeClr val="accent1">
                    <a:lumMod val="75000"/>
                  </a:schemeClr>
                </a:solidFill>
                <a:latin typeface="Arial" pitchFamily="34" charset="0"/>
                <a:cs typeface="Arial" pitchFamily="34" charset="0"/>
              </a:rPr>
              <a:t> Rudra Pratap Singh</a:t>
            </a:r>
            <a:endParaRPr lang="en-US" sz="2000" b="1" dirty="0">
              <a:solidFill>
                <a:schemeClr val="accent1">
                  <a:lumMod val="75000"/>
                </a:schemeClr>
              </a:solidFill>
              <a:latin typeface="Arial"/>
              <a:cs typeface="Arial"/>
            </a:endParaRP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College Name - HARIDWAR UNIVERSITY</a:t>
            </a: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0" indent="0">
              <a:buNone/>
            </a:pPr>
            <a:r>
              <a:rPr lang="en-IN" sz="3200" dirty="0">
                <a:solidFill>
                  <a:srgbClr val="0F0F0F"/>
                </a:solidFill>
                <a:ea typeface="+mn-lt"/>
                <a:cs typeface="+mn-lt"/>
              </a:rPr>
              <a:t>Example:</a:t>
            </a:r>
            <a:r>
              <a:rPr lang="en-IN" sz="2800" dirty="0">
                <a:solidFill>
                  <a:srgbClr val="0F0F0F"/>
                </a:solidFill>
                <a:ea typeface="+mn-lt"/>
                <a:cs typeface="+mn-lt"/>
              </a:rPr>
              <a:t> </a:t>
            </a:r>
            <a:r>
              <a:rPr lang="en-US" sz="2800" dirty="0">
                <a:solidFill>
                  <a:srgbClr val="0F0F0F"/>
                </a:solidFill>
                <a:ea typeface="+mn-lt"/>
                <a:cs typeface="+mn-lt"/>
              </a:rPr>
              <a:t>Problem Statement No.5 - Improved Source of Drinking Water The Challenge: Access to safe and improved sources of drinking water remains a critical issue in India, especially in rural and underdeveloped regions. Despite ongoing efforts under the Sustainable Development Goals (SDGs), inequalities persist in water accessibility across states and socio-economic groups. This project aims to analyze data from the 78th Round of the Multiple Indicator Survey (MIS) to assess the percentage of the population with access to improved drinking water sources. It will also explore related indicators such as use of clean cooking fuel and migration trends. By identifying patterns and disparities, the study will generate actionable insights to support evidence-based policymaking. The ultimate goal is to help ensure equitable access to clean water and contribute to India's progress on SDG targets. </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0" indent="0">
              <a:buNone/>
            </a:pPr>
            <a:endParaRPr lang="en-IN" dirty="0"/>
          </a:p>
        </p:txBody>
      </p:sp>
      <p:sp>
        <p:nvSpPr>
          <p:cNvPr id="4" name="TextBox 3">
            <a:extLst>
              <a:ext uri="{FF2B5EF4-FFF2-40B4-BE49-F238E27FC236}">
                <a16:creationId xmlns:a16="http://schemas.microsoft.com/office/drawing/2014/main" id="{54D6AABA-70E0-67BE-BDD5-6CD717634FD2}"/>
              </a:ext>
            </a:extLst>
          </p:cNvPr>
          <p:cNvSpPr txBox="1"/>
          <p:nvPr/>
        </p:nvSpPr>
        <p:spPr>
          <a:xfrm>
            <a:off x="1440280" y="1911749"/>
            <a:ext cx="9946106" cy="4524315"/>
          </a:xfrm>
          <a:prstGeom prst="rect">
            <a:avLst/>
          </a:prstGeom>
          <a:noFill/>
        </p:spPr>
        <p:txBody>
          <a:bodyPr wrap="square">
            <a:spAutoFit/>
          </a:bodyPr>
          <a:lstStyle/>
          <a:p>
            <a:pPr marL="285750" indent="-285750">
              <a:buFont typeface="Arial" panose="020B0604020202020204" pitchFamily="34" charset="0"/>
              <a:buChar char="•"/>
            </a:pPr>
            <a:r>
              <a:rPr lang="en-US" sz="2400" dirty="0"/>
              <a:t>The project analyzes data from the 78th Round of the Multiple Indicator Survey (MIS) to measure population access to improved drinking water sources.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It examines disparities across states, rural–urban regions, and socio-economic groups.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Related indicators such as clean cooking fuel usage and migration patterns are integrated for deeper insights.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Visual analytics and summaries are used to support evidence-based policymaking aligned with SDG goals.</a:t>
            </a:r>
            <a:endParaRPr lang="en-IN" sz="24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pPr marL="0" indent="0">
              <a:buNone/>
            </a:pPr>
            <a:r>
              <a:rPr lang="en-IN" sz="2400" b="1" dirty="0">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sz="2000" dirty="0"/>
          </a:p>
          <a:p>
            <a:pPr marL="305435" indent="-305435"/>
            <a:r>
              <a:rPr lang="en-IN" sz="2400" b="1" dirty="0">
                <a:solidFill>
                  <a:srgbClr val="0F0F0F"/>
                </a:solidFill>
              </a:rPr>
              <a:t>System requirements</a:t>
            </a:r>
          </a:p>
          <a:p>
            <a:pPr marL="305435" indent="-305435"/>
            <a:r>
              <a:rPr lang="en-IN" sz="24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US" sz="2400" dirty="0"/>
              <a:t>Use descriptive statistics to calculate percentages of access to improved drinking water.</a:t>
            </a:r>
          </a:p>
          <a:p>
            <a:pPr marL="305435" indent="-305435"/>
            <a:r>
              <a:rPr lang="en-US" sz="2400" dirty="0"/>
              <a:t>Apply correlation analysis to study relationships with clean fuel usage and migration. Implement simple machine learning models for pattern detection where required.</a:t>
            </a:r>
          </a:p>
          <a:p>
            <a:pPr marL="305435" indent="-305435"/>
            <a:r>
              <a:rPr lang="en-US" sz="2400" dirty="0"/>
              <a:t>Deploy results through visualization tools and reports for policymakers and planners.</a:t>
            </a:r>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9759CF-E319-1D6B-8350-43476D8BF13C}"/>
              </a:ext>
            </a:extLst>
          </p:cNvPr>
          <p:cNvPicPr>
            <a:picLocks noChangeAspect="1"/>
          </p:cNvPicPr>
          <p:nvPr/>
        </p:nvPicPr>
        <p:blipFill>
          <a:blip r:embed="rId2"/>
          <a:srcRect t="11728" b="1235"/>
          <a:stretch>
            <a:fillRect/>
          </a:stretch>
        </p:blipFill>
        <p:spPr>
          <a:xfrm>
            <a:off x="609599" y="668867"/>
            <a:ext cx="10972801" cy="5969000"/>
          </a:xfrm>
          <a:prstGeom prst="rect">
            <a:avLst/>
          </a:prstGeom>
        </p:spPr>
      </p:pic>
    </p:spTree>
    <p:extLst>
      <p:ext uri="{BB962C8B-B14F-4D97-AF65-F5344CB8AC3E}">
        <p14:creationId xmlns:p14="http://schemas.microsoft.com/office/powerpoint/2010/main" val="356340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BFA1-F26B-8C61-F49C-07431B01AC9C}"/>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0A91851B-8237-AFC6-2BCB-84296287FAAE}"/>
              </a:ext>
            </a:extLst>
          </p:cNvPr>
          <p:cNvPicPr>
            <a:picLocks noGrp="1" noChangeAspect="1"/>
          </p:cNvPicPr>
          <p:nvPr>
            <p:ph idx="1"/>
          </p:nvPr>
        </p:nvPicPr>
        <p:blipFill>
          <a:blip r:embed="rId2"/>
          <a:srcRect t="8142"/>
          <a:stretch>
            <a:fillRect/>
          </a:stretch>
        </p:blipFill>
        <p:spPr>
          <a:xfrm>
            <a:off x="1311807" y="1232452"/>
            <a:ext cx="9568385" cy="5493303"/>
          </a:xfrm>
          <a:prstGeom prst="rect">
            <a:avLst/>
          </a:prstGeom>
        </p:spPr>
      </p:pic>
    </p:spTree>
    <p:extLst>
      <p:ext uri="{BB962C8B-B14F-4D97-AF65-F5344CB8AC3E}">
        <p14:creationId xmlns:p14="http://schemas.microsoft.com/office/powerpoint/2010/main" val="1930726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D2C0-CFBB-9C02-9306-108D954D1E40}"/>
              </a:ext>
            </a:extLst>
          </p:cNvPr>
          <p:cNvSpPr>
            <a:spLocks noGrp="1"/>
          </p:cNvSpPr>
          <p:nvPr>
            <p:ph type="title"/>
          </p:nvPr>
        </p:nvSpPr>
        <p:spPr/>
        <p:txBody>
          <a:bodyPr/>
          <a:lstStyle/>
          <a:p>
            <a:pPr algn="ctr"/>
            <a:r>
              <a:rPr lang="en-IN" dirty="0"/>
              <a:t>RESULT</a:t>
            </a:r>
          </a:p>
        </p:txBody>
      </p:sp>
      <p:pic>
        <p:nvPicPr>
          <p:cNvPr id="6" name="Content Placeholder 5">
            <a:extLst>
              <a:ext uri="{FF2B5EF4-FFF2-40B4-BE49-F238E27FC236}">
                <a16:creationId xmlns:a16="http://schemas.microsoft.com/office/drawing/2014/main" id="{4CF94DE5-FD67-18B3-98AB-E40DC84F8BBA}"/>
              </a:ext>
            </a:extLst>
          </p:cNvPr>
          <p:cNvPicPr>
            <a:picLocks noGrp="1" noChangeAspect="1"/>
          </p:cNvPicPr>
          <p:nvPr>
            <p:ph idx="1"/>
          </p:nvPr>
        </p:nvPicPr>
        <p:blipFill>
          <a:blip r:embed="rId2"/>
          <a:srcRect t="13232"/>
          <a:stretch>
            <a:fillRect/>
          </a:stretch>
        </p:blipFill>
        <p:spPr>
          <a:xfrm>
            <a:off x="1203714" y="1173185"/>
            <a:ext cx="9784572" cy="5306147"/>
          </a:xfrm>
          <a:prstGeom prst="rect">
            <a:avLst/>
          </a:prstGeom>
        </p:spPr>
      </p:pic>
    </p:spTree>
    <p:extLst>
      <p:ext uri="{BB962C8B-B14F-4D97-AF65-F5344CB8AC3E}">
        <p14:creationId xmlns:p14="http://schemas.microsoft.com/office/powerpoint/2010/main" val="820166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0DB1-60CD-6BDA-7158-A2F581B0BFF9}"/>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9C26812E-2F5F-90B3-F65C-C9516563666C}"/>
              </a:ext>
            </a:extLst>
          </p:cNvPr>
          <p:cNvPicPr>
            <a:picLocks noGrp="1" noChangeAspect="1"/>
          </p:cNvPicPr>
          <p:nvPr>
            <p:ph idx="1"/>
          </p:nvPr>
        </p:nvPicPr>
        <p:blipFill>
          <a:blip r:embed="rId2"/>
          <a:stretch>
            <a:fillRect/>
          </a:stretch>
        </p:blipFill>
        <p:spPr>
          <a:xfrm>
            <a:off x="1496907" y="618067"/>
            <a:ext cx="9198185" cy="5748866"/>
          </a:xfrm>
          <a:prstGeom prst="rect">
            <a:avLst/>
          </a:prstGeom>
        </p:spPr>
      </p:pic>
    </p:spTree>
    <p:extLst>
      <p:ext uri="{BB962C8B-B14F-4D97-AF65-F5344CB8AC3E}">
        <p14:creationId xmlns:p14="http://schemas.microsoft.com/office/powerpoint/2010/main" val="16603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D38A-5FF5-A6FE-8974-E11A45199EBC}"/>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3298E41F-DAEC-F7C6-32AB-A98CB0CC1DBE}"/>
              </a:ext>
            </a:extLst>
          </p:cNvPr>
          <p:cNvPicPr>
            <a:picLocks noGrp="1" noChangeAspect="1"/>
          </p:cNvPicPr>
          <p:nvPr>
            <p:ph idx="1"/>
          </p:nvPr>
        </p:nvPicPr>
        <p:blipFill>
          <a:blip r:embed="rId2"/>
          <a:srcRect t="12002"/>
          <a:stretch>
            <a:fillRect/>
          </a:stretch>
        </p:blipFill>
        <p:spPr>
          <a:xfrm>
            <a:off x="1002452" y="702156"/>
            <a:ext cx="10330597" cy="5681711"/>
          </a:xfrm>
          <a:prstGeom prst="rect">
            <a:avLst/>
          </a:prstGeom>
        </p:spPr>
      </p:pic>
    </p:spTree>
    <p:extLst>
      <p:ext uri="{BB962C8B-B14F-4D97-AF65-F5344CB8AC3E}">
        <p14:creationId xmlns:p14="http://schemas.microsoft.com/office/powerpoint/2010/main" val="253523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60C0-DC96-FDE2-510F-C7C544A1CBE2}"/>
              </a:ext>
            </a:extLst>
          </p:cNvPr>
          <p:cNvSpPr>
            <a:spLocks noGrp="1"/>
          </p:cNvSpPr>
          <p:nvPr>
            <p:ph type="title"/>
          </p:nvPr>
        </p:nvSpPr>
        <p:spPr/>
        <p:txBody>
          <a:bodyPr/>
          <a:lstStyle/>
          <a:p>
            <a:pPr algn="ctr"/>
            <a:r>
              <a:rPr lang="en-IN" dirty="0"/>
              <a:t>RESULT</a:t>
            </a:r>
          </a:p>
        </p:txBody>
      </p:sp>
      <p:pic>
        <p:nvPicPr>
          <p:cNvPr id="6" name="Content Placeholder 5">
            <a:extLst>
              <a:ext uri="{FF2B5EF4-FFF2-40B4-BE49-F238E27FC236}">
                <a16:creationId xmlns:a16="http://schemas.microsoft.com/office/drawing/2014/main" id="{056BEA88-6D96-72F1-4B7A-7E5460B4DAB7}"/>
              </a:ext>
            </a:extLst>
          </p:cNvPr>
          <p:cNvPicPr>
            <a:picLocks noGrp="1" noChangeAspect="1"/>
          </p:cNvPicPr>
          <p:nvPr>
            <p:ph idx="1"/>
          </p:nvPr>
        </p:nvPicPr>
        <p:blipFill>
          <a:blip r:embed="rId2"/>
          <a:stretch>
            <a:fillRect/>
          </a:stretch>
        </p:blipFill>
        <p:spPr>
          <a:xfrm>
            <a:off x="1447800" y="733425"/>
            <a:ext cx="9149080" cy="5718175"/>
          </a:xfrm>
          <a:prstGeom prst="rect">
            <a:avLst/>
          </a:prstGeom>
        </p:spPr>
      </p:pic>
    </p:spTree>
    <p:extLst>
      <p:ext uri="{BB962C8B-B14F-4D97-AF65-F5344CB8AC3E}">
        <p14:creationId xmlns:p14="http://schemas.microsoft.com/office/powerpoint/2010/main" val="1559090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US" sz="2800" dirty="0"/>
              <a:t>The analysis highlights significant regional and socio-economic disparities in access to improved drinking water across India. States with better infrastructure show higher coverage, while rural and underdeveloped regions lag behind. A positive relationship is observed between improved water access and clean cooking fuel usage. Migration trends indicate that lack of basic amenities influences population movement.</a:t>
            </a:r>
            <a:endParaRPr lang="en-IN" sz="2800" dirty="0"/>
          </a:p>
        </p:txBody>
      </p:sp>
    </p:spTree>
    <p:extLst>
      <p:ext uri="{BB962C8B-B14F-4D97-AF65-F5344CB8AC3E}">
        <p14:creationId xmlns:p14="http://schemas.microsoft.com/office/powerpoint/2010/main" val="14832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202219"/>
            <a:ext cx="11029616" cy="530296"/>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2271712"/>
            <a:ext cx="11029615" cy="3703637"/>
          </a:xfrm>
        </p:spPr>
        <p:txBody>
          <a:bodyPr>
            <a:normAutofit/>
          </a:bodyPr>
          <a:lstStyle/>
          <a:p>
            <a:pPr marL="0" indent="0">
              <a:buNone/>
            </a:pPr>
            <a:r>
              <a:rPr lang="en-US" sz="2800" dirty="0"/>
              <a:t>The study provides a data-driven assessment of drinking water accessibility in India. It identifies critical gaps and supports targeted interventions to improve equitable access. The findings contribute to monitoring progress toward Sustainable Development Goals.</a:t>
            </a:r>
            <a:endParaRPr lang="en-IN" sz="2800" dirty="0"/>
          </a:p>
        </p:txBody>
      </p:sp>
    </p:spTree>
    <p:extLst>
      <p:ext uri="{BB962C8B-B14F-4D97-AF65-F5344CB8AC3E}">
        <p14:creationId xmlns:p14="http://schemas.microsoft.com/office/powerpoint/2010/main" val="318331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r>
              <a:rPr lang="en-US" sz="2800" b="1" dirty="0"/>
              <a:t>Inclusion of recent survey rounds for trend </a:t>
            </a:r>
            <a:r>
              <a:rPr lang="en-US" sz="2800" b="1" dirty="0" err="1"/>
              <a:t>comparison.Integration</a:t>
            </a:r>
            <a:r>
              <a:rPr lang="en-US" sz="2800" b="1" dirty="0"/>
              <a:t> of real-time data and GIS </a:t>
            </a:r>
            <a:r>
              <a:rPr lang="en-US" sz="2800" b="1" dirty="0" err="1"/>
              <a:t>mapping.Advanced</a:t>
            </a:r>
            <a:r>
              <a:rPr lang="en-US" sz="2800" b="1" dirty="0"/>
              <a:t> predictive modeling for policy impact </a:t>
            </a:r>
            <a:r>
              <a:rPr lang="en-US" sz="2800" b="1" dirty="0" err="1"/>
              <a:t>assessment.Expansion</a:t>
            </a:r>
            <a:r>
              <a:rPr lang="en-US" sz="2800" b="1" dirty="0"/>
              <a:t> to other SDG-related indicators such as sanitation and health.</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660400" y="2040468"/>
            <a:ext cx="10101385" cy="1981199"/>
          </a:xfrm>
        </p:spPr>
        <p:txBody>
          <a:bodyPr/>
          <a:lstStyle/>
          <a:p>
            <a:pPr algn="ctr"/>
            <a:r>
              <a:rPr lang="en-US" sz="6600" b="1" dirty="0">
                <a:solidFill>
                  <a:srgbClr val="002060"/>
                </a:solidFill>
                <a:latin typeface="Arial" panose="020B0604020202020204" pitchFamily="34" charset="0"/>
                <a:cs typeface="Arial" panose="020B0604020202020204" pitchFamily="34" charset="0"/>
              </a:rPr>
              <a:t>THANK</a:t>
            </a:r>
            <a:r>
              <a:rPr lang="en-US" b="1" dirty="0">
                <a:solidFill>
                  <a:srgbClr val="002060"/>
                </a:solidFill>
                <a:latin typeface="Arial" panose="020B0604020202020204" pitchFamily="34" charset="0"/>
                <a:cs typeface="Arial" panose="020B0604020202020204" pitchFamily="34" charset="0"/>
              </a:rPr>
              <a:t> </a:t>
            </a:r>
            <a:r>
              <a:rPr lang="en-US" sz="6600" b="1" dirty="0">
                <a:solidFill>
                  <a:srgbClr val="002060"/>
                </a:solidFill>
                <a:latin typeface="Arial" panose="020B0604020202020204" pitchFamily="34" charset="0"/>
                <a:cs typeface="Arial" panose="020B0604020202020204" pitchFamily="34" charset="0"/>
              </a:rPr>
              <a:t>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13</TotalTime>
  <Words>555</Words>
  <Application>Microsoft Office PowerPoint</Application>
  <PresentationFormat>Widescreen</PresentationFormat>
  <Paragraphs>49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Franklin Gothic Book</vt:lpstr>
      <vt:lpstr>Franklin Gothic Demi</vt:lpstr>
      <vt:lpstr>Wingdings</vt:lpstr>
      <vt:lpstr>Wingdings 2</vt:lpstr>
      <vt:lpstr>DividendVTI</vt:lpstr>
      <vt:lpstr>IMPROVING DRINKING WATER ACCESS IN INDIA</vt:lpstr>
      <vt:lpstr>OUTLINE</vt:lpstr>
      <vt:lpstr>Problem Statement</vt:lpstr>
      <vt:lpstr>Proposed Solution</vt:lpstr>
      <vt:lpstr>System  Approach</vt:lpstr>
      <vt:lpstr>Algorithm &amp; Deployment</vt:lpstr>
      <vt:lpstr>PowerPoint Presentation</vt:lpstr>
      <vt:lpstr>RESULT</vt:lpstr>
      <vt:lpstr>RESULT</vt:lpstr>
      <vt:lpstr>RESULT</vt:lpstr>
      <vt:lpstr>RESULT</vt:lpstr>
      <vt:lpstr>RESULT</vt:lpstr>
      <vt:lpstr>Result</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Rudra Pratap Singh</cp:lastModifiedBy>
  <cp:revision>32</cp:revision>
  <dcterms:created xsi:type="dcterms:W3CDTF">2021-05-26T16:50:10Z</dcterms:created>
  <dcterms:modified xsi:type="dcterms:W3CDTF">2026-02-06T16:40:42Z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